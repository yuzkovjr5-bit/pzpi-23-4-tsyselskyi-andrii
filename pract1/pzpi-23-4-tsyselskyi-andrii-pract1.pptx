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10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C2DD01-1735-8BEB-1546-2D086C486C8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6583680" y="457200"/>
            <a:ext cx="2286000" cy="4229100"/>
          </a:xfrm>
          <a:prstGeom prst="rect">
            <a:avLst/>
          </a:prstGeom>
          <a:solidFill>
            <a:srgbClr val="7B4DB5"/>
          </a:solidFill>
          <a:ln w="12700">
            <a:solidFill>
              <a:srgbClr val="7B4DB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6858000" y="274320"/>
            <a:ext cx="1645920" cy="1645920"/>
          </a:xfrm>
          <a:prstGeom prst="ellipse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7863840" y="3200400"/>
            <a:ext cx="1097280" cy="1097280"/>
          </a:xfrm>
          <a:prstGeom prst="ellipse">
            <a:avLst/>
          </a:prstGeom>
          <a:solidFill>
            <a:srgbClr val="EDE4F8"/>
          </a:solidFill>
          <a:ln w="12700">
            <a:solidFill>
              <a:srgbClr val="EDE4F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030A0"/>
                </a:solidFill>
              </a:rPr>
              <a:t>Патерн проєктування ПЗ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00" b="1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r>
              <a:rPr lang="en-US" sz="2800" i="1">
                <a:solidFill>
                  <a:srgbClr val="5B2D8E"/>
                </a:solidFill>
              </a:rPr>
              <a:t>(</a:t>
            </a:r>
            <a:r>
              <a:rPr lang="en-US" sz="2800" i="1" err="1">
                <a:solidFill>
                  <a:srgbClr val="5B2D8E"/>
                </a:solidFill>
              </a:rPr>
              <a:t>Спостерігач</a:t>
            </a:r>
            <a:r>
              <a:rPr lang="en-US" sz="2800" i="1">
                <a:solidFill>
                  <a:srgbClr val="5B2D8E"/>
                </a:solidFill>
              </a:rPr>
              <a:t>)</a:t>
            </a:r>
            <a:endParaRPr lang="en-US" sz="2800"/>
          </a:p>
          <a:p>
            <a:pPr marL="0" indent="0">
              <a:buNone/>
            </a:pPr>
            <a:endParaRPr lang="en-US" sz="5800"/>
          </a:p>
        </p:txBody>
      </p:sp>
      <p:sp>
        <p:nvSpPr>
          <p:cNvPr id="9" name="Shape 7"/>
          <p:cNvSpPr/>
          <p:nvPr/>
        </p:nvSpPr>
        <p:spPr>
          <a:xfrm>
            <a:off x="502920" y="1971859"/>
            <a:ext cx="2560320" cy="36576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502920" y="2154739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7030A0"/>
                </a:solidFill>
              </a:rPr>
              <a:t>Цисельський </a:t>
            </a:r>
            <a:r>
              <a:rPr lang="en-US" sz="2000" err="1">
                <a:solidFill>
                  <a:srgbClr val="7030A0"/>
                </a:solidFill>
              </a:rPr>
              <a:t>Андрій</a:t>
            </a:r>
            <a:r>
              <a:rPr lang="en-US" sz="2000">
                <a:solidFill>
                  <a:srgbClr val="7030A0"/>
                </a:solidFill>
              </a:rPr>
              <a:t>   </a:t>
            </a:r>
            <a:r>
              <a:rPr lang="en-US" sz="2000" b="1">
                <a:solidFill>
                  <a:srgbClr val="7030A0"/>
                </a:solidFill>
              </a:rPr>
              <a:t>ПЗПІ-23-4</a:t>
            </a:r>
            <a:endParaRPr lang="en-US" sz="200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92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7030A0"/>
                </a:solidFill>
              </a:rPr>
              <a:t>Архітектура програмного забезпечення</a:t>
            </a:r>
          </a:p>
        </p:txBody>
      </p:sp>
      <p:sp>
        <p:nvSpPr>
          <p:cNvPr id="12" name="Shape 10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Мета та завдання доповіді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77640" cy="5486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5B2D8E"/>
                </a:solidFill>
              </a:rPr>
              <a:t>МЕТА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800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1F1535"/>
                </a:solidFill>
              </a:rPr>
              <a:t>Ознайомитися з патерном Observer із книги GoF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1F1535"/>
                </a:solidFill>
              </a:rPr>
              <a:t>Проаналізувати структуру, призначення та застосування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1F1535"/>
                </a:solidFill>
              </a:rPr>
              <a:t>Реалізувати демонстраційний приклад мовою C#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3977640" cy="54864"/>
          </a:xfrm>
          <a:prstGeom prst="rect">
            <a:avLst/>
          </a:prstGeom>
          <a:solidFill>
            <a:srgbClr val="7B4DB5"/>
          </a:solidFill>
          <a:ln w="12700">
            <a:solidFill>
              <a:srgbClr val="7B4DB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7030A0"/>
                </a:solidFill>
              </a:rPr>
              <a:t>ЗАВДАННЯ</a:t>
            </a:r>
            <a:endParaRPr lang="en-US" sz="160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03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600">
                <a:solidFill>
                  <a:srgbClr val="1F1535"/>
                </a:solidFill>
              </a:rPr>
              <a:t>1.  Вибрати патерн із книги GoF (крім Singleton)</a:t>
            </a:r>
            <a:endParaRPr lang="en-US" sz="1600"/>
          </a:p>
          <a:p>
            <a:pPr marL="0" indent="0">
              <a:spcAft>
                <a:spcPts val="700"/>
              </a:spcAft>
              <a:buNone/>
            </a:pPr>
            <a:r>
              <a:rPr lang="en-US" sz="1600">
                <a:solidFill>
                  <a:srgbClr val="1F1535"/>
                </a:solidFill>
              </a:rPr>
              <a:t>2.  Розробити слайди презентації</a:t>
            </a:r>
            <a:endParaRPr lang="en-US" sz="1600"/>
          </a:p>
          <a:p>
            <a:pPr marL="0" indent="0">
              <a:spcAft>
                <a:spcPts val="700"/>
              </a:spcAft>
              <a:buNone/>
            </a:pPr>
            <a:r>
              <a:rPr lang="en-US" sz="1600">
                <a:solidFill>
                  <a:srgbClr val="1F1535"/>
                </a:solidFill>
              </a:rPr>
              <a:t>3.  Записати відеодоповідь (10–12 хв) на YouTube</a:t>
            </a:r>
            <a:endParaRPr lang="en-US" sz="1600"/>
          </a:p>
          <a:p>
            <a:pPr marL="0" indent="0">
              <a:spcAft>
                <a:spcPts val="700"/>
              </a:spcAft>
              <a:buNone/>
            </a:pPr>
            <a:r>
              <a:rPr lang="en-US" sz="1600">
                <a:solidFill>
                  <a:srgbClr val="1F1535"/>
                </a:solidFill>
              </a:rPr>
              <a:t>4.  Створити GitHub-репозиторій</a:t>
            </a:r>
            <a:endParaRPr lang="en-US" sz="1600"/>
          </a:p>
          <a:p>
            <a:pPr marL="0" indent="0">
              <a:spcAft>
                <a:spcPts val="700"/>
              </a:spcAft>
              <a:buNone/>
            </a:pPr>
            <a:r>
              <a:rPr lang="en-US" sz="1600">
                <a:solidFill>
                  <a:srgbClr val="1F1535"/>
                </a:solidFill>
              </a:rPr>
              <a:t>5.  Завантажити звіт у форматах PDF та TXT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Класифікація патернів GoF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Породжувальні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B2D8E"/>
                </a:solidFill>
              </a:rPr>
              <a:t>Creational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0A2E"/>
                </a:solidFill>
              </a:rPr>
              <a:t>Механізми створення об'єктів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2377440" cy="18288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Singleton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Factory Method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Abstract Factory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Builder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Prototype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3227832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227832" y="1051560"/>
            <a:ext cx="274320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7B4DB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319272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Структурні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319272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030A0"/>
                </a:solidFill>
              </a:rPr>
              <a:t>Structural</a:t>
            </a:r>
          </a:p>
        </p:txBody>
      </p:sp>
      <p:sp>
        <p:nvSpPr>
          <p:cNvPr id="15" name="Text 13"/>
          <p:cNvSpPr/>
          <p:nvPr/>
        </p:nvSpPr>
        <p:spPr>
          <a:xfrm>
            <a:off x="3364992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A0A2E"/>
                </a:solidFill>
              </a:rPr>
              <a:t>Побудова структур із класів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3410712" y="2212848"/>
            <a:ext cx="2377440" cy="18288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3364992" y="2304288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Adapter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Bridge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Composite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Decorator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Facade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Flyweight</a:t>
            </a:r>
            <a:endParaRPr lang="en-US" sz="1600"/>
          </a:p>
          <a:p>
            <a:pPr marL="342900" indent="-342900"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Proxy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135624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6135624" y="1051560"/>
            <a:ext cx="274320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6227064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Поведінкові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227064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7030A0"/>
                </a:solidFill>
              </a:rPr>
              <a:t>Behavioral</a:t>
            </a:r>
          </a:p>
        </p:txBody>
      </p:sp>
      <p:sp>
        <p:nvSpPr>
          <p:cNvPr id="22" name="Text 20"/>
          <p:cNvSpPr/>
          <p:nvPr/>
        </p:nvSpPr>
        <p:spPr>
          <a:xfrm>
            <a:off x="6272784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0A2E"/>
                </a:solidFill>
              </a:rPr>
              <a:t>Алгоритми та розподіл обов'язків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6318504" y="2212848"/>
            <a:ext cx="2377440" cy="18288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5918823" y="2274793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Observer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Strategy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Command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State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Mediator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Iterator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Visitor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Template Method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Chain of Responsibility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Memento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Interpreter </a:t>
            </a:r>
          </a:p>
        </p:txBody>
      </p:sp>
      <p:sp>
        <p:nvSpPr>
          <p:cNvPr id="25" name="Shape 23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Призначення патерна Observer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EDE4F8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0515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8092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/>
              <a:t>Observer </a:t>
            </a:r>
            <a:r>
              <a:rPr lang="uk-UA" sz="1400"/>
              <a:t>визначає залежність типу «один до багатьох» між об’єктами. Коли стан одного об’єкта (</a:t>
            </a:r>
            <a:r>
              <a:rPr lang="en-US" sz="1400"/>
              <a:t>Subject) </a:t>
            </a:r>
            <a:r>
              <a:rPr lang="uk-UA" sz="1400"/>
              <a:t>змінюється, усі залежні від нього об’єкти (</a:t>
            </a:r>
            <a:r>
              <a:rPr lang="en-US" sz="1400"/>
              <a:t>Observers) </a:t>
            </a:r>
            <a:r>
              <a:rPr lang="uk-UA" sz="1400"/>
              <a:t>автоматично отримують сповіщення та оновлюють свій стан. Це дозволяє організувати слабке зв’язування між компонентами системи та забезпечує зручний механізм реакції на події.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Shape 6"/>
          <p:cNvSpPr/>
          <p:nvPr/>
        </p:nvSpPr>
        <p:spPr>
          <a:xfrm>
            <a:off x="1417320" y="2148840"/>
            <a:ext cx="640080" cy="64008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B2D8E"/>
                </a:solidFill>
              </a:rPr>
              <a:t>Тип патерна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A0A2E"/>
                </a:solidFill>
              </a:rPr>
              <a:t>Поведінковий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A0A2E"/>
                </a:solidFill>
              </a:rPr>
              <a:t>(Behavioral)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246120" y="22860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4297680" y="2148840"/>
            <a:ext cx="640080" cy="64008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297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3832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B2D8E"/>
                </a:solidFill>
              </a:rPr>
              <a:t>Книга GoF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383280" y="32004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A0A2E"/>
                </a:solidFill>
              </a:rPr>
              <a:t>Design Patterns: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A0A2E"/>
                </a:solidFill>
              </a:rPr>
              <a:t>Elements of Reusable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A0A2E"/>
                </a:solidFill>
              </a:rPr>
              <a:t>Object-Oriented Software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A0A2E"/>
                </a:solidFill>
              </a:rPr>
              <a:t>1994, Gamma et al.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Shape 16"/>
          <p:cNvSpPr/>
          <p:nvPr/>
        </p:nvSpPr>
        <p:spPr>
          <a:xfrm>
            <a:off x="7178040" y="2148840"/>
            <a:ext cx="640080" cy="64008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2636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B2D8E"/>
                </a:solidFill>
              </a:rPr>
              <a:t>Ключова ідея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263640" y="32004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A0A2E"/>
                </a:solidFill>
              </a:rPr>
              <a:t>Слабка зв'язаність між суб'єктом і спостерігачами через спільний інтерфейс IObserver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Передумови застосування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502920" y="1289304"/>
            <a:ext cx="640080" cy="640080"/>
          </a:xfrm>
          <a:prstGeom prst="ellipse">
            <a:avLst/>
          </a:prstGeom>
          <a:solidFill>
            <a:srgbClr val="EDE4F8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02920" y="1289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B2D8E"/>
                </a:solidFill>
              </a:rPr>
              <a:t>01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325880" y="1161288"/>
            <a:ext cx="7269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535"/>
                </a:solidFill>
              </a:rPr>
              <a:t>Необхідно реагувати на зміни стану об'єкта в інших об'єктах, не знаючи наперед, які саме мають реагувати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502920" y="2587752"/>
            <a:ext cx="640080" cy="640080"/>
          </a:xfrm>
          <a:prstGeom prst="ellipse">
            <a:avLst/>
          </a:prstGeom>
          <a:solidFill>
            <a:srgbClr val="EDE4F8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502920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B2D8E"/>
                </a:solidFill>
              </a:rPr>
              <a:t>02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325880" y="2459736"/>
            <a:ext cx="7269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535"/>
                </a:solidFill>
              </a:rPr>
              <a:t>Об'єкти повинні повідомляти інші об'єкти, не роблячи припущень щодо того, хто ці об'єкти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365760" y="3648456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640080" cy="640080"/>
          </a:xfrm>
          <a:prstGeom prst="ellipse">
            <a:avLst/>
          </a:prstGeom>
          <a:solidFill>
            <a:srgbClr val="EDE4F8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B2D8E"/>
                </a:solidFill>
              </a:rPr>
              <a:t>03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325880" y="3758184"/>
            <a:ext cx="7269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F1535"/>
                </a:solidFill>
              </a:rPr>
              <a:t>Зміна одного об'єкта вимагає зміни інших, і кількість таких об'єктів заздалегідь невідома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Переваги та недоліки патерна Observer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4389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FFFFFF"/>
                </a:solidFill>
              </a:rPr>
              <a:t>Переваги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703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Принцип відкритості / закритості — нові спостерігачі без зміни суб'єкта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Встановлення зв'язків між об'єктами під час виконання програми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Низька зв'язаність між суб'єктом і спостерігачами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Широка підтримка у фреймворках (EventEmitter, INotifyPropertyChanged)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438912"/>
          </a:xfrm>
          <a:prstGeom prst="rect">
            <a:avLst/>
          </a:prstGeom>
          <a:solidFill>
            <a:srgbClr val="7030A0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FFFFFF"/>
                </a:solidFill>
              </a:rPr>
              <a:t>Недоліки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703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Спостерігачі отримують сповіщення у непередбачуваному порядку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Можливий витік пам'яті через необхідність явного від'єднання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При великій кількості спостерігачів може знизитися продуктивність</a:t>
            </a:r>
            <a:endParaRPr lang="en-US" sz="16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Складність відлагодження ланцюжків сповіщень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FFFFFF"/>
                </a:solidFill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1" y="-10260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UML-діаграма структури патерна Observer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115177" y="392844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Shape 28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FFFFFF"/>
                </a:solidFill>
              </a:rPr>
              <a:t>7</a:t>
            </a:r>
            <a:endParaRPr lang="en-US" sz="100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24EC47A-DCF8-7F5C-BFE4-F62C1275E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668" y="279619"/>
            <a:ext cx="5302544" cy="4772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Реалізація: Інтерфейси IObserver та ISubject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840480"/>
          </a:xfrm>
          <a:prstGeom prst="rect">
            <a:avLst/>
          </a:prstGeom>
          <a:solidFill>
            <a:srgbClr val="1C1033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Observer.cs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84124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400">
                <a:solidFill>
                  <a:srgbClr val="7EC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Інтерфейс Спостерігача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IObserver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4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Update(string eventType, object data);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400">
                <a:solidFill>
                  <a:srgbClr val="7EC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Інтерфейс Суб'єкта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ISubject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4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Attach(IObserver observer);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4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Detach(IObserver observer);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4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Notify(string eventType, object data);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B2D8E"/>
                </a:solidFill>
              </a:rPr>
              <a:t>Реалізація: TemperatureSensor та спостерігачі</a:t>
            </a:r>
            <a:endParaRPr lang="en-US" sz="20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434840" cy="3840480"/>
          </a:xfrm>
          <a:prstGeom prst="rect">
            <a:avLst/>
          </a:prstGeom>
          <a:solidFill>
            <a:srgbClr val="1C1033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434840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TemperatureSensor.cs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42519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TemperatureSensor : ISubject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List&lt;IObserver&gt; _obs = new();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double _temperature;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double Temperature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 =&gt; _temperature;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1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_temperature = value;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1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Notify("TempChanged", value);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Attach(IObserver o) =&gt; _obs.Add(o);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Detach(IObserver o) =&gt; _obs.Remove(o);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Notify(string e, object d) 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(var o in _obs) o.Update(e, d);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r>
              <a:rPr lang="en-US" sz="11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31920" cy="3840480"/>
          </a:xfrm>
          <a:prstGeom prst="rect">
            <a:avLst/>
          </a:prstGeom>
          <a:solidFill>
            <a:srgbClr val="1C1033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9834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Observers.cs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5001768" y="1325880"/>
            <a:ext cx="37490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DisplayObserver : IObserver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string _name;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DisplayObserver(string name)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_name = name;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Update(string e, object d)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05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05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$"[{_name}] {e}: {d}");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LoggerObserver : IObserver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Update(string e, object d)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r>
              <a:rPr lang="en-US" sz="105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r>
              <a:rPr lang="en-US" sz="105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$"[LOG] {DateTime.Now} | {e}: {d}");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5B2D8E"/>
                </a:solidFill>
              </a:rPr>
              <a:t>Демонстрація роботи програми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572000" cy="3840480"/>
          </a:xfrm>
          <a:prstGeom prst="rect">
            <a:avLst/>
          </a:prstGeom>
          <a:solidFill>
            <a:srgbClr val="1C1033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00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— метод Main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43708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Main()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sensor = new TemperatureSensor();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display = new DisplayObserver("Головний дисплей");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logger  = new LoggerObserver();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sensor.Attach(display);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sensor.Attach(logger);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2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sensor.Temperature = 22.5;  // → обидва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2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sensor.Temperature = 25.0;  // → обидва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sensor.Detach(logger);       // від'єднати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r>
              <a:rPr lang="en-US" sz="120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sensor.Temperature = 30.1;  // → тільки display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C6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r>
              <a:rPr lang="en-US" sz="1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029200" y="1005840"/>
            <a:ext cx="3749040" cy="3840480"/>
          </a:xfrm>
          <a:prstGeom prst="rect">
            <a:avLst/>
          </a:prstGeom>
          <a:solidFill>
            <a:srgbClr val="EDE4F8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5029200" y="1005840"/>
            <a:ext cx="3749040" cy="274320"/>
          </a:xfrm>
          <a:prstGeom prst="rect">
            <a:avLst/>
          </a:prstGeom>
          <a:solidFill>
            <a:srgbClr val="7B4DB5"/>
          </a:solidFill>
          <a:ln w="12700">
            <a:solidFill>
              <a:srgbClr val="7B4DB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512064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виконання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5166360" y="1371600"/>
            <a:ext cx="3520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[Головний дисплей]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TempChanged: 22.5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[LOG] 12:00:01 | TempChanged: 22.5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[Головний дисплей]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TempChanged: 25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[LOG] 12:00:02 | TempChanged: 25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logger від'єднано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[Головний дисплей]</a:t>
            </a:r>
            <a:endParaRPr lang="en-US" sz="140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TempChanged: 30.1</a:t>
            </a:r>
            <a:endParaRPr lang="en-US" sz="1400">
              <a:solidFill>
                <a:srgbClr val="7030A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DE4F8"/>
          </a:solidFill>
          <a:ln w="12700">
            <a:solidFill>
              <a:srgbClr val="EDE4F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6858000" y="1371600"/>
            <a:ext cx="2011680" cy="2011680"/>
          </a:xfrm>
          <a:prstGeom prst="ellipse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7498080" y="91440"/>
            <a:ext cx="1280160" cy="1280160"/>
          </a:xfrm>
          <a:prstGeom prst="ellipse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A87DD4"/>
          </a:solidFill>
          <a:ln w="12700">
            <a:solidFill>
              <a:srgbClr val="A87DD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>
                <a:solidFill>
                  <a:srgbClr val="5B2D8E"/>
                </a:solidFill>
              </a:rPr>
              <a:t>ВИСНОВКИ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Досліджено поведінковий патерн Observer (Спостерігач) із книги GoF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Проаналізовано структуру, передумови, переваги та недоліки патерна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Реалізовано приклад мовою C# з інтерфейсами IObserver та ISubject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Патерн забезпечує слабку зв'язаність, масштабованість і повторне використання коду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Підходить для систем сповіщень, реактивного програмування, архітектур MVC/MVVM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F1535"/>
                </a:solidFill>
              </a:rPr>
              <a:t>Підготовлено презентацію та відеодоповідь українською мовою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8668512" y="4768596"/>
            <a:ext cx="292608" cy="27432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8641080" y="47685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908</Words>
  <Application>Microsoft Office PowerPoint</Application>
  <PresentationFormat>Экран (16:9)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Патерн проєктування ПЗ: Observer (Спостерігач)</dc:title>
  <dc:subject>PptxGenJS Presentation</dc:subject>
  <dc:creator>Цисельський Андрій</dc:creator>
  <cp:lastModifiedBy>Александр Юзков</cp:lastModifiedBy>
  <cp:revision>3</cp:revision>
  <dcterms:created xsi:type="dcterms:W3CDTF">2026-05-26T00:51:04Z</dcterms:created>
  <dcterms:modified xsi:type="dcterms:W3CDTF">2026-05-26T02:00:26Z</dcterms:modified>
</cp:coreProperties>
</file>